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Kanit Bold" panose="020B0604020202020204" charset="-34"/>
      <p:regular r:id="rId15"/>
    </p:embeddedFont>
    <p:embeddedFont>
      <p:font typeface="Kanit Light" panose="020B0604020202020204" charset="-34"/>
      <p:regular r:id="rId16"/>
    </p:embeddedFont>
    <p:embeddedFont>
      <p:font typeface="Martel Sans" panose="020B0604020202020204" charset="0"/>
      <p:regular r:id="rId17"/>
    </p:embeddedFont>
    <p:embeddedFont>
      <p:font typeface="Martel Sans 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555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martcampus.com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hyperlink" Target="mailto:info@smartcampu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267340"/>
            <a:ext cx="6296860" cy="1164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Smart Campus Companion</a:t>
            </a:r>
            <a:endParaRPr lang="en-US" sz="4400" b="1" dirty="0"/>
          </a:p>
        </p:txBody>
      </p:sp>
      <p:sp>
        <p:nvSpPr>
          <p:cNvPr id="4" name="Text 1"/>
          <p:cNvSpPr/>
          <p:nvPr/>
        </p:nvSpPr>
        <p:spPr>
          <a:xfrm>
            <a:off x="661475" y="3714849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Your unified platform for an enhanced university experience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dirty="0">
              <a:solidFill>
                <a:srgbClr val="2C3249"/>
              </a:solidFill>
              <a:latin typeface="Martel Sans" pitchFamily="34" charset="0"/>
              <a:ea typeface="Martel Sans" pitchFamily="34" charset="-122"/>
              <a:cs typeface="Martel Sans" pitchFamily="34" charset="-120"/>
            </a:endParaRPr>
          </a:p>
          <a:p>
            <a:pPr marL="285750" indent="-285750" algn="l">
              <a:lnSpc>
                <a:spcPct val="133000"/>
              </a:lnSpc>
              <a:buFont typeface="Wingdings" panose="05000000000000000000" pitchFamily="2" charset="2"/>
              <a:buChar char="è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Het Mehta</a:t>
            </a:r>
          </a:p>
          <a:p>
            <a:pPr marL="285750" indent="-285750" algn="l">
              <a:lnSpc>
                <a:spcPct val="133000"/>
              </a:lnSpc>
              <a:buFont typeface="Wingdings" panose="05000000000000000000" pitchFamily="2" charset="2"/>
              <a:buChar char="è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Maharshi Dave 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24371"/>
            <a:ext cx="6296860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Smart Campus Companion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661475" y="1362571"/>
            <a:ext cx="2450146" cy="278110"/>
          </a:xfrm>
          <a:prstGeom prst="roundRect">
            <a:avLst>
              <a:gd name="adj" fmla="val 22123"/>
            </a:avLst>
          </a:prstGeom>
          <a:solidFill>
            <a:srgbClr val="DCEFEC"/>
          </a:solidFill>
          <a:ln/>
        </p:spPr>
      </p:sp>
      <p:sp>
        <p:nvSpPr>
          <p:cNvPr id="5" name="Text 2"/>
          <p:cNvSpPr/>
          <p:nvPr/>
        </p:nvSpPr>
        <p:spPr>
          <a:xfrm>
            <a:off x="771307" y="1417439"/>
            <a:ext cx="2840066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FULL-STACK WEB APPLICATION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61475" y="1840210"/>
            <a:ext cx="6296860" cy="1353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spcAft>
                <a:spcPts val="1550"/>
              </a:spcAft>
              <a:buNone/>
            </a:pPr>
            <a:r>
              <a:rPr lang="en-US" sz="14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Smart Campus Companion</a:t>
            </a: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unifies academic, campus, safety, communication, and student support tools in one modern platform.</a:t>
            </a:r>
            <a:endParaRPr lang="en-US" sz="140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With role-based dashboards for </a:t>
            </a:r>
            <a:r>
              <a:rPr lang="en-US" sz="14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Students</a:t>
            </a: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and </a:t>
            </a:r>
            <a:r>
              <a:rPr lang="en-US" sz="14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Faculty</a:t>
            </a: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, it streamlines everyday campus life into a single digital experience.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98790" y="3392984"/>
            <a:ext cx="25399" cy="2940645"/>
          </a:xfrm>
          <a:prstGeom prst="roundRect">
            <a:avLst>
              <a:gd name="adj" fmla="val 50001"/>
            </a:avLst>
          </a:prstGeom>
          <a:solidFill>
            <a:srgbClr val="C2D5D2"/>
          </a:solidFill>
          <a:ln/>
        </p:spPr>
      </p:sp>
      <p:sp>
        <p:nvSpPr>
          <p:cNvPr id="8" name="Shape 5"/>
          <p:cNvSpPr/>
          <p:nvPr/>
        </p:nvSpPr>
        <p:spPr>
          <a:xfrm>
            <a:off x="773391" y="3586262"/>
            <a:ext cx="366207" cy="25400"/>
          </a:xfrm>
          <a:prstGeom prst="roundRect">
            <a:avLst>
              <a:gd name="adj" fmla="val 49999"/>
            </a:avLst>
          </a:prstGeom>
          <a:solidFill>
            <a:srgbClr val="C2D5D2"/>
          </a:solidFill>
          <a:ln/>
        </p:spPr>
      </p:sp>
      <p:sp>
        <p:nvSpPr>
          <p:cNvPr id="9" name="Shape 6"/>
          <p:cNvSpPr/>
          <p:nvPr/>
        </p:nvSpPr>
        <p:spPr>
          <a:xfrm>
            <a:off x="730133" y="3530302"/>
            <a:ext cx="137315" cy="137319"/>
          </a:xfrm>
          <a:prstGeom prst="ellipse">
            <a:avLst/>
          </a:prstGeom>
          <a:solidFill>
            <a:srgbClr val="D1EAE6"/>
          </a:solidFill>
          <a:ln/>
        </p:spPr>
      </p:sp>
      <p:sp>
        <p:nvSpPr>
          <p:cNvPr id="10" name="Text 7"/>
          <p:cNvSpPr/>
          <p:nvPr/>
        </p:nvSpPr>
        <p:spPr>
          <a:xfrm>
            <a:off x="1531205" y="3455888"/>
            <a:ext cx="5427130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Centralized access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531205" y="3848298"/>
            <a:ext cx="5427130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Everything in one place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73391" y="4684713"/>
            <a:ext cx="366207" cy="25400"/>
          </a:xfrm>
          <a:prstGeom prst="roundRect">
            <a:avLst>
              <a:gd name="adj" fmla="val 49999"/>
            </a:avLst>
          </a:prstGeom>
          <a:solidFill>
            <a:srgbClr val="C2D5D2"/>
          </a:solidFill>
          <a:ln/>
        </p:spPr>
      </p:sp>
      <p:sp>
        <p:nvSpPr>
          <p:cNvPr id="13" name="Shape 10"/>
          <p:cNvSpPr/>
          <p:nvPr/>
        </p:nvSpPr>
        <p:spPr>
          <a:xfrm>
            <a:off x="730133" y="4628753"/>
            <a:ext cx="137315" cy="137319"/>
          </a:xfrm>
          <a:prstGeom prst="ellipse">
            <a:avLst/>
          </a:prstGeom>
          <a:solidFill>
            <a:srgbClr val="D1EAE6"/>
          </a:solidFill>
          <a:ln/>
        </p:spPr>
      </p:sp>
      <p:sp>
        <p:nvSpPr>
          <p:cNvPr id="14" name="Text 11"/>
          <p:cNvSpPr/>
          <p:nvPr/>
        </p:nvSpPr>
        <p:spPr>
          <a:xfrm>
            <a:off x="1531205" y="4554339"/>
            <a:ext cx="5427130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Safer campus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531205" y="4946749"/>
            <a:ext cx="5427130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Built-in safety and alerts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73391" y="5783163"/>
            <a:ext cx="366207" cy="25400"/>
          </a:xfrm>
          <a:prstGeom prst="roundRect">
            <a:avLst>
              <a:gd name="adj" fmla="val 49999"/>
            </a:avLst>
          </a:prstGeom>
          <a:solidFill>
            <a:srgbClr val="C2D5D2"/>
          </a:solidFill>
          <a:ln/>
        </p:spPr>
      </p:sp>
      <p:sp>
        <p:nvSpPr>
          <p:cNvPr id="17" name="Shape 14"/>
          <p:cNvSpPr/>
          <p:nvPr/>
        </p:nvSpPr>
        <p:spPr>
          <a:xfrm>
            <a:off x="730133" y="5727204"/>
            <a:ext cx="137315" cy="137319"/>
          </a:xfrm>
          <a:prstGeom prst="ellipse">
            <a:avLst/>
          </a:prstGeom>
          <a:solidFill>
            <a:srgbClr val="D1EAE6"/>
          </a:solidFill>
          <a:ln/>
        </p:spPr>
      </p:sp>
      <p:sp>
        <p:nvSpPr>
          <p:cNvPr id="18" name="Text 15"/>
          <p:cNvSpPr/>
          <p:nvPr/>
        </p:nvSpPr>
        <p:spPr>
          <a:xfrm>
            <a:off x="1531205" y="5652790"/>
            <a:ext cx="5427130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Role-based experience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531205" y="6045200"/>
            <a:ext cx="5427130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Tailored for each user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8380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1. Problem Statement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594842"/>
            <a:ext cx="10868745" cy="1037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500"/>
              </a:spcAft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Students and faculty often depend on different systems or manual processes for academic activities, campus facilities, communication, safety reporting, and personal utilities.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This can result in: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2825651"/>
            <a:ext cx="3508486" cy="935831"/>
          </a:xfrm>
          <a:prstGeom prst="roundRect">
            <a:avLst>
              <a:gd name="adj" fmla="val 8085"/>
            </a:avLst>
          </a:prstGeom>
          <a:solidFill>
            <a:srgbClr val="DCEFEC"/>
          </a:solidFill>
          <a:ln w="6350">
            <a:solidFill>
              <a:srgbClr val="C2D5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7902" y="3012083"/>
            <a:ext cx="313563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Scattered information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4341605" y="2825651"/>
            <a:ext cx="3508486" cy="935831"/>
          </a:xfrm>
          <a:prstGeom prst="roundRect">
            <a:avLst>
              <a:gd name="adj" fmla="val 8085"/>
            </a:avLst>
          </a:prstGeom>
          <a:solidFill>
            <a:srgbClr val="DCEFEC"/>
          </a:solidFill>
          <a:ln w="6350">
            <a:solidFill>
              <a:srgbClr val="C2D5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28032" y="3012083"/>
            <a:ext cx="3135631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Multiple platforms for different tasks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21734" y="2825651"/>
            <a:ext cx="3508486" cy="935831"/>
          </a:xfrm>
          <a:prstGeom prst="roundRect">
            <a:avLst>
              <a:gd name="adj" fmla="val 8085"/>
            </a:avLst>
          </a:prstGeom>
          <a:solidFill>
            <a:srgbClr val="DCEFEC"/>
          </a:solidFill>
          <a:ln w="6350">
            <a:solidFill>
              <a:srgbClr val="C2D5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08162" y="3012083"/>
            <a:ext cx="3135631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Difficult tracking of academic activities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661475" y="3933130"/>
            <a:ext cx="3508486" cy="935831"/>
          </a:xfrm>
          <a:prstGeom prst="roundRect">
            <a:avLst>
              <a:gd name="adj" fmla="val 8085"/>
            </a:avLst>
          </a:prstGeom>
          <a:solidFill>
            <a:srgbClr val="DCEFEC"/>
          </a:solidFill>
          <a:ln w="6350">
            <a:solidFill>
              <a:srgbClr val="C2D5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7902" y="4119563"/>
            <a:ext cx="313563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Less organized safety reporting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4341605" y="3933130"/>
            <a:ext cx="3508486" cy="935831"/>
          </a:xfrm>
          <a:prstGeom prst="roundRect">
            <a:avLst>
              <a:gd name="adj" fmla="val 8085"/>
            </a:avLst>
          </a:prstGeom>
          <a:solidFill>
            <a:srgbClr val="DCEFEC"/>
          </a:solidFill>
          <a:ln w="6350">
            <a:solidFill>
              <a:srgbClr val="C2D5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8032" y="4119563"/>
            <a:ext cx="3135631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Limited student-faculty interaction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021734" y="3933130"/>
            <a:ext cx="3508486" cy="935831"/>
          </a:xfrm>
          <a:prstGeom prst="roundRect">
            <a:avLst>
              <a:gd name="adj" fmla="val 8085"/>
            </a:avLst>
          </a:prstGeom>
          <a:solidFill>
            <a:srgbClr val="DCEFEC"/>
          </a:solidFill>
          <a:ln w="6350">
            <a:solidFill>
              <a:srgbClr val="C2D5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08162" y="4119563"/>
            <a:ext cx="3135631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Manual handling of campus services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661475" y="5040610"/>
            <a:ext cx="10868745" cy="654348"/>
          </a:xfrm>
          <a:prstGeom prst="roundRect">
            <a:avLst>
              <a:gd name="adj" fmla="val 11564"/>
            </a:avLst>
          </a:prstGeom>
          <a:solidFill>
            <a:srgbClr val="DCEFEC"/>
          </a:solidFill>
          <a:ln w="6350">
            <a:solidFill>
              <a:srgbClr val="C2D5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7902" y="5227042"/>
            <a:ext cx="1049589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Difficulty managing shared expenses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661475" y="5888137"/>
            <a:ext cx="1147833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Smart Campus Companion</a:t>
            </a: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addresses these problems by providing multiple services through one centralized web application.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7321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2. Objectives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54188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major objectives of the project are: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056930"/>
            <a:ext cx="3496877" cy="10193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7479" y="3271341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Create a centralized campus platform</a:t>
            </a:r>
            <a:endParaRPr lang="en-US" sz="1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3056930"/>
            <a:ext cx="3496877" cy="10193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3271341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Provide role-based access for students and faculty</a:t>
            </a:r>
            <a:endParaRPr lang="en-US" sz="1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3056930"/>
            <a:ext cx="3496877" cy="101937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349247" y="3271341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Simplify academic activities and tracking</a:t>
            </a:r>
            <a:endParaRPr lang="en-US" sz="1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265315"/>
            <a:ext cx="3496877" cy="101937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7479" y="4479727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Enable campus safety and incident reporting</a:t>
            </a:r>
            <a:endParaRPr lang="en-US" sz="18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4265315"/>
            <a:ext cx="3496877" cy="101937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663363" y="4479727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Support communication and community interaction</a:t>
            </a:r>
            <a:endParaRPr lang="en-US" sz="18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4265315"/>
            <a:ext cx="3496877" cy="1019373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349247" y="4479727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Provide notifications and real-time communication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9825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3. User Roles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6692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Two primary roles access the platform with tailored tools and permissions: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25350" y="2581970"/>
            <a:ext cx="5476043" cy="3177679"/>
          </a:xfrm>
          <a:prstGeom prst="roundRect">
            <a:avLst>
              <a:gd name="adj" fmla="val 4283"/>
            </a:avLst>
          </a:prstGeom>
          <a:solidFill>
            <a:srgbClr val="D1EAE6"/>
          </a:solidFill>
          <a:ln/>
        </p:spPr>
      </p:sp>
      <p:sp>
        <p:nvSpPr>
          <p:cNvPr id="5" name="Text 3"/>
          <p:cNvSpPr/>
          <p:nvPr/>
        </p:nvSpPr>
        <p:spPr>
          <a:xfrm>
            <a:off x="714357" y="2770981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Student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714357" y="3382863"/>
            <a:ext cx="94454" cy="94456"/>
          </a:xfrm>
          <a:prstGeom prst="ellipse">
            <a:avLst/>
          </a:prstGeom>
          <a:solidFill>
            <a:srgbClr val="D1EAE6"/>
          </a:solidFill>
          <a:ln/>
        </p:spPr>
      </p:sp>
      <p:sp>
        <p:nvSpPr>
          <p:cNvPr id="7" name="Text 5"/>
          <p:cNvSpPr/>
          <p:nvPr/>
        </p:nvSpPr>
        <p:spPr>
          <a:xfrm>
            <a:off x="997818" y="3278882"/>
            <a:ext cx="214743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Learning tools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381489" y="3382863"/>
            <a:ext cx="94454" cy="94456"/>
          </a:xfrm>
          <a:prstGeom prst="ellipse">
            <a:avLst/>
          </a:prstGeom>
          <a:solidFill>
            <a:srgbClr val="D1EAE6"/>
          </a:solidFill>
          <a:ln/>
        </p:spPr>
      </p:sp>
      <p:sp>
        <p:nvSpPr>
          <p:cNvPr id="9" name="Text 7"/>
          <p:cNvSpPr/>
          <p:nvPr/>
        </p:nvSpPr>
        <p:spPr>
          <a:xfrm>
            <a:off x="3664950" y="3278882"/>
            <a:ext cx="214743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Attendance and submissions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14357" y="4365724"/>
            <a:ext cx="94454" cy="94456"/>
          </a:xfrm>
          <a:prstGeom prst="ellipse">
            <a:avLst/>
          </a:prstGeom>
          <a:solidFill>
            <a:srgbClr val="D1EAE6"/>
          </a:solidFill>
          <a:ln/>
        </p:spPr>
      </p:sp>
      <p:sp>
        <p:nvSpPr>
          <p:cNvPr id="11" name="Text 9"/>
          <p:cNvSpPr/>
          <p:nvPr/>
        </p:nvSpPr>
        <p:spPr>
          <a:xfrm>
            <a:off x="997818" y="4261743"/>
            <a:ext cx="214743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Campus services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3381489" y="4365724"/>
            <a:ext cx="94454" cy="94456"/>
          </a:xfrm>
          <a:prstGeom prst="ellipse">
            <a:avLst/>
          </a:prstGeom>
          <a:solidFill>
            <a:srgbClr val="D1EAE6"/>
          </a:solidFill>
          <a:ln/>
        </p:spPr>
      </p:sp>
      <p:sp>
        <p:nvSpPr>
          <p:cNvPr id="13" name="Text 11"/>
          <p:cNvSpPr/>
          <p:nvPr/>
        </p:nvSpPr>
        <p:spPr>
          <a:xfrm>
            <a:off x="3664950" y="4261743"/>
            <a:ext cx="214743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Community and messaging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14357" y="5348585"/>
            <a:ext cx="94454" cy="94456"/>
          </a:xfrm>
          <a:prstGeom prst="ellipse">
            <a:avLst/>
          </a:prstGeom>
          <a:solidFill>
            <a:srgbClr val="D1EAE6"/>
          </a:solidFill>
          <a:ln/>
        </p:spPr>
      </p:sp>
      <p:sp>
        <p:nvSpPr>
          <p:cNvPr id="15" name="Text 13"/>
          <p:cNvSpPr/>
          <p:nvPr/>
        </p:nvSpPr>
        <p:spPr>
          <a:xfrm>
            <a:off x="997818" y="5244604"/>
            <a:ext cx="48145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Expenses, profile, and alerts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332776" y="2770981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Faculty</a:t>
            </a:r>
            <a:endParaRPr lang="en-US" sz="1850" dirty="0"/>
          </a:p>
        </p:txBody>
      </p:sp>
      <p:sp>
        <p:nvSpPr>
          <p:cNvPr id="17" name="Shape 15"/>
          <p:cNvSpPr/>
          <p:nvPr/>
        </p:nvSpPr>
        <p:spPr>
          <a:xfrm>
            <a:off x="6332776" y="3382863"/>
            <a:ext cx="94454" cy="94456"/>
          </a:xfrm>
          <a:prstGeom prst="ellipse">
            <a:avLst/>
          </a:prstGeom>
          <a:solidFill>
            <a:srgbClr val="D1EAE6"/>
          </a:solidFill>
          <a:ln/>
        </p:spPr>
      </p:sp>
      <p:sp>
        <p:nvSpPr>
          <p:cNvPr id="18" name="Text 16"/>
          <p:cNvSpPr/>
          <p:nvPr/>
        </p:nvSpPr>
        <p:spPr>
          <a:xfrm>
            <a:off x="6616237" y="3278882"/>
            <a:ext cx="22003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Teaching dashboard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9052790" y="3382863"/>
            <a:ext cx="94454" cy="94456"/>
          </a:xfrm>
          <a:prstGeom prst="ellipse">
            <a:avLst/>
          </a:prstGeom>
          <a:solidFill>
            <a:srgbClr val="D1EAE6"/>
          </a:solidFill>
          <a:ln/>
        </p:spPr>
      </p:sp>
      <p:sp>
        <p:nvSpPr>
          <p:cNvPr id="20" name="Text 18"/>
          <p:cNvSpPr/>
          <p:nvPr/>
        </p:nvSpPr>
        <p:spPr>
          <a:xfrm>
            <a:off x="9336251" y="3278882"/>
            <a:ext cx="22003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Assignments and reviews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332776" y="4365724"/>
            <a:ext cx="94454" cy="94456"/>
          </a:xfrm>
          <a:prstGeom prst="ellipse">
            <a:avLst/>
          </a:prstGeom>
          <a:solidFill>
            <a:srgbClr val="D1EAE6"/>
          </a:solidFill>
          <a:ln/>
        </p:spPr>
      </p:sp>
      <p:sp>
        <p:nvSpPr>
          <p:cNvPr id="22" name="Text 20"/>
          <p:cNvSpPr/>
          <p:nvPr/>
        </p:nvSpPr>
        <p:spPr>
          <a:xfrm>
            <a:off x="6616237" y="4261743"/>
            <a:ext cx="22003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Plagiarism and safety reports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9052790" y="4365724"/>
            <a:ext cx="94454" cy="94456"/>
          </a:xfrm>
          <a:prstGeom prst="ellipse">
            <a:avLst/>
          </a:prstGeom>
          <a:solidFill>
            <a:srgbClr val="D1EAE6"/>
          </a:solidFill>
          <a:ln/>
        </p:spPr>
      </p:sp>
      <p:sp>
        <p:nvSpPr>
          <p:cNvPr id="24" name="Text 22"/>
          <p:cNvSpPr/>
          <p:nvPr/>
        </p:nvSpPr>
        <p:spPr>
          <a:xfrm>
            <a:off x="9336251" y="4261743"/>
            <a:ext cx="22003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Community updates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332776" y="5348585"/>
            <a:ext cx="94454" cy="94456"/>
          </a:xfrm>
          <a:prstGeom prst="ellipse">
            <a:avLst/>
          </a:prstGeom>
          <a:solidFill>
            <a:srgbClr val="D1EAE6"/>
          </a:solidFill>
          <a:ln/>
        </p:spPr>
      </p:sp>
      <p:sp>
        <p:nvSpPr>
          <p:cNvPr id="26" name="Text 24"/>
          <p:cNvSpPr/>
          <p:nvPr/>
        </p:nvSpPr>
        <p:spPr>
          <a:xfrm>
            <a:off x="6616237" y="5244604"/>
            <a:ext cx="492033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Profile and alerts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2769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4. Major Modules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93949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Academic Module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61475" y="234989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academic module provides: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864941"/>
            <a:ext cx="3496877" cy="7240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7479" y="3079353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Assignment creation</a:t>
            </a:r>
            <a:endParaRPr lang="en-US" sz="1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2864941"/>
            <a:ext cx="3496877" cy="7240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3363" y="3079353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Assignment submission</a:t>
            </a:r>
            <a:endParaRPr lang="en-US" sz="1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2864941"/>
            <a:ext cx="3496877" cy="72409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9247" y="3079353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Assignment evaluation</a:t>
            </a:r>
            <a:endParaRPr lang="en-US" sz="18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778052"/>
            <a:ext cx="3496877" cy="72409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77479" y="3992463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Assignment results</a:t>
            </a:r>
            <a:endParaRPr lang="en-US" sz="18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3778052"/>
            <a:ext cx="3496877" cy="72409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663363" y="3992463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Attendance tracking</a:t>
            </a:r>
            <a:endParaRPr lang="en-US" sz="18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3778052"/>
            <a:ext cx="3496877" cy="72409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349247" y="3992463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SPI calculation</a:t>
            </a:r>
            <a:endParaRPr lang="en-US" sz="18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691162"/>
            <a:ext cx="3496877" cy="72409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977479" y="4905573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Plagiarism checking</a:t>
            </a:r>
            <a:endParaRPr lang="en-US" sz="1850" dirty="0"/>
          </a:p>
        </p:txBody>
      </p:sp>
      <p:sp>
        <p:nvSpPr>
          <p:cNvPr id="19" name="Text 10"/>
          <p:cNvSpPr/>
          <p:nvPr/>
        </p:nvSpPr>
        <p:spPr>
          <a:xfrm>
            <a:off x="661475" y="562788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Students can submit assignments while faculty can create, review, evaluate, and manage assignments.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7607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Attendance Tracker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604070"/>
            <a:ext cx="10868745" cy="756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1500"/>
              </a:spcAft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Students can maintain subject-wise attendance information.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system supports: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2553395"/>
            <a:ext cx="5348551" cy="654348"/>
          </a:xfrm>
          <a:prstGeom prst="roundRect">
            <a:avLst>
              <a:gd name="adj" fmla="val 11564"/>
            </a:avLst>
          </a:prstGeom>
          <a:solidFill>
            <a:srgbClr val="DCEFEC"/>
          </a:solidFill>
          <a:ln w="6350">
            <a:solidFill>
              <a:srgbClr val="C2D5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7902" y="2739827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Subject details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6181670" y="2553395"/>
            <a:ext cx="5348551" cy="654348"/>
          </a:xfrm>
          <a:prstGeom prst="roundRect">
            <a:avLst>
              <a:gd name="adj" fmla="val 11564"/>
            </a:avLst>
          </a:prstGeom>
          <a:solidFill>
            <a:srgbClr val="DCEFEC"/>
          </a:solidFill>
          <a:ln w="6350">
            <a:solidFill>
              <a:srgbClr val="C2D5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68097" y="2739827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Total classes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61475" y="3379391"/>
            <a:ext cx="5348551" cy="654348"/>
          </a:xfrm>
          <a:prstGeom prst="roundRect">
            <a:avLst>
              <a:gd name="adj" fmla="val 11564"/>
            </a:avLst>
          </a:prstGeom>
          <a:solidFill>
            <a:srgbClr val="DCEFEC"/>
          </a:solidFill>
          <a:ln w="6350">
            <a:solidFill>
              <a:srgbClr val="C2D5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7902" y="3565823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Attended classes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6181670" y="3379391"/>
            <a:ext cx="5348551" cy="654348"/>
          </a:xfrm>
          <a:prstGeom prst="roundRect">
            <a:avLst>
              <a:gd name="adj" fmla="val 11564"/>
            </a:avLst>
          </a:prstGeom>
          <a:solidFill>
            <a:srgbClr val="DCEFEC"/>
          </a:solidFill>
          <a:ln w="6350">
            <a:solidFill>
              <a:srgbClr val="C2D5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8097" y="3565823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Minimum required attendance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661475" y="4205387"/>
            <a:ext cx="5348551" cy="654348"/>
          </a:xfrm>
          <a:prstGeom prst="roundRect">
            <a:avLst>
              <a:gd name="adj" fmla="val 11564"/>
            </a:avLst>
          </a:prstGeom>
          <a:solidFill>
            <a:srgbClr val="DCEFEC"/>
          </a:solidFill>
          <a:ln w="6350">
            <a:solidFill>
              <a:srgbClr val="C2D5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7902" y="4391819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Semester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6181670" y="4205387"/>
            <a:ext cx="5348551" cy="654348"/>
          </a:xfrm>
          <a:prstGeom prst="roundRect">
            <a:avLst>
              <a:gd name="adj" fmla="val 11564"/>
            </a:avLst>
          </a:prstGeom>
          <a:solidFill>
            <a:srgbClr val="DCEFEC"/>
          </a:solidFill>
          <a:ln w="6350">
            <a:solidFill>
              <a:srgbClr val="C2D5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8097" y="4391819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Academic year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661475" y="5031383"/>
            <a:ext cx="5348551" cy="654348"/>
          </a:xfrm>
          <a:prstGeom prst="roundRect">
            <a:avLst>
              <a:gd name="adj" fmla="val 11564"/>
            </a:avLst>
          </a:prstGeom>
          <a:solidFill>
            <a:srgbClr val="DCEFEC"/>
          </a:solidFill>
          <a:ln w="6350">
            <a:solidFill>
              <a:srgbClr val="C2D5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7902" y="5217815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Attendance calculation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6181670" y="5031383"/>
            <a:ext cx="5348551" cy="654348"/>
          </a:xfrm>
          <a:prstGeom prst="roundRect">
            <a:avLst>
              <a:gd name="adj" fmla="val 11564"/>
            </a:avLst>
          </a:prstGeom>
          <a:solidFill>
            <a:srgbClr val="DCEFEC"/>
          </a:solidFill>
          <a:ln w="6350">
            <a:solidFill>
              <a:srgbClr val="C2D5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8097" y="5217815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Add/update/delete subjects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661475" y="5878909"/>
            <a:ext cx="1147833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module also helps students understand how many classes they can safely miss while maintaining the required attendance.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224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Campus Booking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6092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campus booking module provides two major services: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25350" y="2175966"/>
            <a:ext cx="5476043" cy="3989784"/>
          </a:xfrm>
          <a:prstGeom prst="roundRect">
            <a:avLst>
              <a:gd name="adj" fmla="val 3411"/>
            </a:avLst>
          </a:prstGeom>
          <a:solidFill>
            <a:srgbClr val="D1EAE6"/>
          </a:solidFill>
          <a:ln/>
        </p:spPr>
      </p:sp>
      <p:sp>
        <p:nvSpPr>
          <p:cNvPr id="5" name="Text 3"/>
          <p:cNvSpPr/>
          <p:nvPr/>
        </p:nvSpPr>
        <p:spPr>
          <a:xfrm>
            <a:off x="714357" y="2364978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Canteen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14357" y="2849265"/>
            <a:ext cx="5098029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Browse food items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Add items to cart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Change quantities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Select pickup time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Place food orders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32776" y="236497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Sports Facilities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32776" y="2849265"/>
            <a:ext cx="5203794" cy="3250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Cricket Ground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Football Field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Basketball Court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Badminton Court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Table Tennis Room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Select date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View available time slots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Book a slot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Cancel bookings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2209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5. Safety &amp; Reporting Module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61475" y="1418134"/>
            <a:ext cx="1147833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application provides mechanisms for students to report campus-related issues.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61475" y="1941909"/>
            <a:ext cx="1086874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D45"/>
                </a:solidFill>
                <a:latin typeface="Kanit Bold" pitchFamily="34" charset="0"/>
                <a:ea typeface="Kanit Bold" pitchFamily="34" charset="-122"/>
                <a:cs typeface="Kanit Bold" pitchFamily="34" charset="-120"/>
              </a:rPr>
              <a:t>Safety Features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61475" y="2600821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C2D5D2"/>
          </a:solidFill>
          <a:ln/>
        </p:spPr>
      </p:sp>
      <p:sp>
        <p:nvSpPr>
          <p:cNvPr id="6" name="Shape 4"/>
          <p:cNvSpPr/>
          <p:nvPr/>
        </p:nvSpPr>
        <p:spPr>
          <a:xfrm>
            <a:off x="1932634" y="2600821"/>
            <a:ext cx="19050" cy="354409"/>
          </a:xfrm>
          <a:prstGeom prst="roundRect">
            <a:avLst>
              <a:gd name="adj" fmla="val 49999"/>
            </a:avLst>
          </a:prstGeom>
          <a:solidFill>
            <a:srgbClr val="C2D5D2"/>
          </a:solidFill>
          <a:ln/>
        </p:spPr>
      </p:sp>
      <p:sp>
        <p:nvSpPr>
          <p:cNvPr id="7" name="Shape 5"/>
          <p:cNvSpPr/>
          <p:nvPr/>
        </p:nvSpPr>
        <p:spPr>
          <a:xfrm>
            <a:off x="1875733" y="2534394"/>
            <a:ext cx="132851" cy="132854"/>
          </a:xfrm>
          <a:prstGeom prst="ellipse">
            <a:avLst/>
          </a:prstGeom>
          <a:solidFill>
            <a:srgbClr val="D1EAE6"/>
          </a:solidFill>
          <a:ln/>
        </p:spPr>
      </p:sp>
      <p:sp>
        <p:nvSpPr>
          <p:cNvPr id="8" name="Text 6"/>
          <p:cNvSpPr/>
          <p:nvPr/>
        </p:nvSpPr>
        <p:spPr>
          <a:xfrm>
            <a:off x="838675" y="3132435"/>
            <a:ext cx="2206967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Ragging Report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701661" y="2600821"/>
            <a:ext cx="19050" cy="354409"/>
          </a:xfrm>
          <a:prstGeom prst="roundRect">
            <a:avLst>
              <a:gd name="adj" fmla="val 49999"/>
            </a:avLst>
          </a:prstGeom>
          <a:solidFill>
            <a:srgbClr val="C2D5D2"/>
          </a:solidFill>
          <a:ln/>
        </p:spPr>
      </p:sp>
      <p:sp>
        <p:nvSpPr>
          <p:cNvPr id="10" name="Shape 8"/>
          <p:cNvSpPr/>
          <p:nvPr/>
        </p:nvSpPr>
        <p:spPr>
          <a:xfrm>
            <a:off x="4644760" y="2534394"/>
            <a:ext cx="132851" cy="132854"/>
          </a:xfrm>
          <a:prstGeom prst="ellipse">
            <a:avLst/>
          </a:prstGeom>
          <a:solidFill>
            <a:srgbClr val="D1EAE6"/>
          </a:solidFill>
          <a:ln/>
        </p:spPr>
      </p:sp>
      <p:sp>
        <p:nvSpPr>
          <p:cNvPr id="11" name="Text 9"/>
          <p:cNvSpPr/>
          <p:nvPr/>
        </p:nvSpPr>
        <p:spPr>
          <a:xfrm>
            <a:off x="3607702" y="3132435"/>
            <a:ext cx="220706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Conflict Report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470787" y="2600821"/>
            <a:ext cx="19050" cy="354409"/>
          </a:xfrm>
          <a:prstGeom prst="roundRect">
            <a:avLst>
              <a:gd name="adj" fmla="val 49999"/>
            </a:avLst>
          </a:prstGeom>
          <a:solidFill>
            <a:srgbClr val="C2D5D2"/>
          </a:solidFill>
          <a:ln/>
        </p:spPr>
      </p:sp>
      <p:sp>
        <p:nvSpPr>
          <p:cNvPr id="13" name="Shape 11"/>
          <p:cNvSpPr/>
          <p:nvPr/>
        </p:nvSpPr>
        <p:spPr>
          <a:xfrm>
            <a:off x="7413886" y="2534394"/>
            <a:ext cx="132851" cy="132854"/>
          </a:xfrm>
          <a:prstGeom prst="ellipse">
            <a:avLst/>
          </a:prstGeom>
          <a:solidFill>
            <a:srgbClr val="D1EAE6"/>
          </a:solidFill>
          <a:ln/>
        </p:spPr>
      </p:sp>
      <p:sp>
        <p:nvSpPr>
          <p:cNvPr id="14" name="Text 12"/>
          <p:cNvSpPr/>
          <p:nvPr/>
        </p:nvSpPr>
        <p:spPr>
          <a:xfrm>
            <a:off x="6376828" y="3132435"/>
            <a:ext cx="220706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Incident reporting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0239913" y="2600821"/>
            <a:ext cx="19050" cy="354409"/>
          </a:xfrm>
          <a:prstGeom prst="roundRect">
            <a:avLst>
              <a:gd name="adj" fmla="val 49999"/>
            </a:avLst>
          </a:prstGeom>
          <a:solidFill>
            <a:srgbClr val="C2D5D2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83012" y="2534394"/>
            <a:ext cx="132851" cy="132854"/>
          </a:xfrm>
          <a:prstGeom prst="ellipse">
            <a:avLst/>
          </a:prstGeom>
          <a:solidFill>
            <a:srgbClr val="D1EAE6"/>
          </a:solidFill>
          <a:ln/>
        </p:spPr>
      </p:sp>
      <p:sp>
        <p:nvSpPr>
          <p:cNvPr id="17" name="Text 15"/>
          <p:cNvSpPr/>
          <p:nvPr/>
        </p:nvSpPr>
        <p:spPr>
          <a:xfrm>
            <a:off x="9145954" y="3132435"/>
            <a:ext cx="2207066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Media/file attachments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61475" y="3873103"/>
            <a:ext cx="1147833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Faculty can access submitted reports and manage their status.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61475" y="4396879"/>
            <a:ext cx="1086874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72D45"/>
                </a:solidFill>
                <a:latin typeface="Kanit Bold" pitchFamily="34" charset="0"/>
                <a:ea typeface="Kanit Bold" pitchFamily="34" charset="-122"/>
                <a:cs typeface="Kanit Bold" pitchFamily="34" charset="-120"/>
              </a:rPr>
              <a:t>Report statuses include: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61475" y="5055791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C2D5D2"/>
          </a:solidFill>
          <a:ln/>
        </p:spPr>
      </p:sp>
      <p:sp>
        <p:nvSpPr>
          <p:cNvPr id="21" name="Shape 19"/>
          <p:cNvSpPr/>
          <p:nvPr/>
        </p:nvSpPr>
        <p:spPr>
          <a:xfrm>
            <a:off x="1932634" y="5055791"/>
            <a:ext cx="19050" cy="354409"/>
          </a:xfrm>
          <a:prstGeom prst="roundRect">
            <a:avLst>
              <a:gd name="adj" fmla="val 49999"/>
            </a:avLst>
          </a:prstGeom>
          <a:solidFill>
            <a:srgbClr val="C2D5D2"/>
          </a:solidFill>
          <a:ln/>
        </p:spPr>
      </p:sp>
      <p:sp>
        <p:nvSpPr>
          <p:cNvPr id="22" name="Shape 20"/>
          <p:cNvSpPr/>
          <p:nvPr/>
        </p:nvSpPr>
        <p:spPr>
          <a:xfrm>
            <a:off x="1875733" y="4989364"/>
            <a:ext cx="132851" cy="132854"/>
          </a:xfrm>
          <a:prstGeom prst="ellipse">
            <a:avLst/>
          </a:prstGeom>
          <a:solidFill>
            <a:srgbClr val="D1EAE6"/>
          </a:solidFill>
          <a:ln/>
        </p:spPr>
      </p:sp>
      <p:sp>
        <p:nvSpPr>
          <p:cNvPr id="23" name="Text 21"/>
          <p:cNvSpPr/>
          <p:nvPr/>
        </p:nvSpPr>
        <p:spPr>
          <a:xfrm>
            <a:off x="838675" y="5587405"/>
            <a:ext cx="2206967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Pending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701661" y="5055791"/>
            <a:ext cx="19050" cy="354409"/>
          </a:xfrm>
          <a:prstGeom prst="roundRect">
            <a:avLst>
              <a:gd name="adj" fmla="val 49999"/>
            </a:avLst>
          </a:prstGeom>
          <a:solidFill>
            <a:srgbClr val="C2D5D2"/>
          </a:solidFill>
          <a:ln/>
        </p:spPr>
      </p:sp>
      <p:sp>
        <p:nvSpPr>
          <p:cNvPr id="25" name="Shape 23"/>
          <p:cNvSpPr/>
          <p:nvPr/>
        </p:nvSpPr>
        <p:spPr>
          <a:xfrm>
            <a:off x="4644760" y="4989364"/>
            <a:ext cx="132851" cy="132854"/>
          </a:xfrm>
          <a:prstGeom prst="ellipse">
            <a:avLst/>
          </a:prstGeom>
          <a:solidFill>
            <a:srgbClr val="D1EAE6"/>
          </a:solidFill>
          <a:ln/>
        </p:spPr>
      </p:sp>
      <p:sp>
        <p:nvSpPr>
          <p:cNvPr id="26" name="Text 24"/>
          <p:cNvSpPr/>
          <p:nvPr/>
        </p:nvSpPr>
        <p:spPr>
          <a:xfrm>
            <a:off x="3607702" y="5587405"/>
            <a:ext cx="220706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Under Review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7470787" y="5055791"/>
            <a:ext cx="19050" cy="354409"/>
          </a:xfrm>
          <a:prstGeom prst="roundRect">
            <a:avLst>
              <a:gd name="adj" fmla="val 49999"/>
            </a:avLst>
          </a:prstGeom>
          <a:solidFill>
            <a:srgbClr val="C2D5D2"/>
          </a:solidFill>
          <a:ln/>
        </p:spPr>
      </p:sp>
      <p:sp>
        <p:nvSpPr>
          <p:cNvPr id="28" name="Shape 26"/>
          <p:cNvSpPr/>
          <p:nvPr/>
        </p:nvSpPr>
        <p:spPr>
          <a:xfrm>
            <a:off x="7413886" y="4989364"/>
            <a:ext cx="132851" cy="132854"/>
          </a:xfrm>
          <a:prstGeom prst="ellipse">
            <a:avLst/>
          </a:prstGeom>
          <a:solidFill>
            <a:srgbClr val="D1EAE6"/>
          </a:solidFill>
          <a:ln/>
        </p:spPr>
      </p:sp>
      <p:sp>
        <p:nvSpPr>
          <p:cNvPr id="29" name="Text 27"/>
          <p:cNvSpPr/>
          <p:nvPr/>
        </p:nvSpPr>
        <p:spPr>
          <a:xfrm>
            <a:off x="6376828" y="5587405"/>
            <a:ext cx="220706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Resolved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10239913" y="5055791"/>
            <a:ext cx="19050" cy="354409"/>
          </a:xfrm>
          <a:prstGeom prst="roundRect">
            <a:avLst>
              <a:gd name="adj" fmla="val 49999"/>
            </a:avLst>
          </a:prstGeom>
          <a:solidFill>
            <a:srgbClr val="C2D5D2"/>
          </a:solidFill>
          <a:ln/>
        </p:spPr>
      </p:sp>
      <p:sp>
        <p:nvSpPr>
          <p:cNvPr id="31" name="Shape 29"/>
          <p:cNvSpPr/>
          <p:nvPr/>
        </p:nvSpPr>
        <p:spPr>
          <a:xfrm>
            <a:off x="10183012" y="4989364"/>
            <a:ext cx="132851" cy="132854"/>
          </a:xfrm>
          <a:prstGeom prst="ellipse">
            <a:avLst/>
          </a:prstGeom>
          <a:solidFill>
            <a:srgbClr val="D1EAE6"/>
          </a:solidFill>
          <a:ln/>
        </p:spPr>
      </p:sp>
      <p:sp>
        <p:nvSpPr>
          <p:cNvPr id="32" name="Text 30"/>
          <p:cNvSpPr/>
          <p:nvPr/>
        </p:nvSpPr>
        <p:spPr>
          <a:xfrm>
            <a:off x="9145954" y="5587405"/>
            <a:ext cx="220706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Dismissed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61475" y="6051153"/>
            <a:ext cx="1147833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This creates a structured process for reporting and handling campus incidents.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5093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6. Community &amp; Communication Module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491555"/>
            <a:ext cx="1147833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Community Feed acts as a social and academic interaction area.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31700" y="1966218"/>
            <a:ext cx="5474158" cy="3357265"/>
          </a:xfrm>
          <a:prstGeom prst="roundRect">
            <a:avLst>
              <a:gd name="adj" fmla="val 3864"/>
            </a:avLst>
          </a:prstGeom>
          <a:solidFill>
            <a:srgbClr val="D1EAE6"/>
          </a:solidFill>
          <a:ln/>
        </p:spPr>
      </p:sp>
      <p:sp>
        <p:nvSpPr>
          <p:cNvPr id="5" name="Text 3"/>
          <p:cNvSpPr/>
          <p:nvPr/>
        </p:nvSpPr>
        <p:spPr>
          <a:xfrm>
            <a:off x="711778" y="2137866"/>
            <a:ext cx="511400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Post Types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778" y="2612529"/>
            <a:ext cx="450343" cy="4503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1778" y="3277493"/>
            <a:ext cx="244965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Posts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76032" y="2612529"/>
            <a:ext cx="450343" cy="45035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76032" y="3277493"/>
            <a:ext cx="244974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Doubts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1778" y="3902373"/>
            <a:ext cx="450343" cy="45035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1778" y="4567337"/>
            <a:ext cx="244965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Notes &amp; Resources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76032" y="3902373"/>
            <a:ext cx="450343" cy="45035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376032" y="4567337"/>
            <a:ext cx="2449749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Announcements &amp; Events</a:t>
            </a:r>
            <a:endParaRPr lang="en-US" sz="1750" dirty="0"/>
          </a:p>
        </p:txBody>
      </p:sp>
      <p:sp>
        <p:nvSpPr>
          <p:cNvPr id="14" name="Shape 8"/>
          <p:cNvSpPr/>
          <p:nvPr/>
        </p:nvSpPr>
        <p:spPr>
          <a:xfrm>
            <a:off x="6192186" y="1966218"/>
            <a:ext cx="5474158" cy="3357265"/>
          </a:xfrm>
          <a:prstGeom prst="roundRect">
            <a:avLst>
              <a:gd name="adj" fmla="val 3864"/>
            </a:avLst>
          </a:prstGeom>
          <a:solidFill>
            <a:srgbClr val="D1EAE6"/>
          </a:solidFill>
          <a:ln/>
        </p:spPr>
      </p:sp>
      <p:sp>
        <p:nvSpPr>
          <p:cNvPr id="15" name="Text 9"/>
          <p:cNvSpPr/>
          <p:nvPr/>
        </p:nvSpPr>
        <p:spPr>
          <a:xfrm>
            <a:off x="6372264" y="2137866"/>
            <a:ext cx="511400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User Actions</a:t>
            </a:r>
            <a:endParaRPr lang="en-US" sz="17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72264" y="2612529"/>
            <a:ext cx="450343" cy="45035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372264" y="3277493"/>
            <a:ext cx="244965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Create &amp; Edit</a:t>
            </a:r>
            <a:endParaRPr lang="en-US" sz="17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36518" y="2612529"/>
            <a:ext cx="450343" cy="45035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036518" y="3277493"/>
            <a:ext cx="244974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Attach Files</a:t>
            </a:r>
            <a:endParaRPr lang="en-US" sz="17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72264" y="3902373"/>
            <a:ext cx="450343" cy="450354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372264" y="4567337"/>
            <a:ext cx="244965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Like &amp; Comment</a:t>
            </a:r>
            <a:endParaRPr lang="en-US" sz="175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36518" y="3902373"/>
            <a:ext cx="450343" cy="450354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9036518" y="4567337"/>
            <a:ext cx="244974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Mark Solutions</a:t>
            </a:r>
            <a:endParaRPr lang="en-US" sz="1750" dirty="0"/>
          </a:p>
        </p:txBody>
      </p:sp>
      <p:sp>
        <p:nvSpPr>
          <p:cNvPr id="24" name="Text 14"/>
          <p:cNvSpPr/>
          <p:nvPr/>
        </p:nvSpPr>
        <p:spPr>
          <a:xfrm>
            <a:off x="661475" y="5516662"/>
            <a:ext cx="10868745" cy="756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1500"/>
              </a:spcAft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application also supports direct messaging between users.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helpfulness leaderboard is included to encourage useful participation in the community.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8535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7. Expense Management — NetOwe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54027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</a:t>
            </a:r>
            <a:r>
              <a:rPr lang="en-US" sz="14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NetOwe</a:t>
            </a: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module helps students manage shared expenses.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Key features include: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084116"/>
            <a:ext cx="472468" cy="472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0177" y="3084116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Create expense groups</a:t>
            </a:r>
            <a:endParaRPr lang="en-US" sz="1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3084116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22617" y="3084116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Add group expenses</a:t>
            </a:r>
            <a:endParaRPr lang="en-US" sz="1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934619"/>
            <a:ext cx="472468" cy="472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70177" y="3934619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Track group transactions</a:t>
            </a:r>
            <a:endParaRPr lang="en-US" sz="1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3934619"/>
            <a:ext cx="472468" cy="4724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922617" y="3934619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Simplify debts</a:t>
            </a:r>
            <a:endParaRPr lang="en-US" sz="18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785122"/>
            <a:ext cx="472468" cy="47248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370177" y="4785122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Settle expenses</a:t>
            </a:r>
            <a:endParaRPr lang="en-US" sz="18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3915" y="4785122"/>
            <a:ext cx="472468" cy="47248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922617" y="4785122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Update transactions</a:t>
            </a:r>
            <a:endParaRPr lang="en-US" sz="1850" dirty="0"/>
          </a:p>
        </p:txBody>
      </p:sp>
      <p:sp>
        <p:nvSpPr>
          <p:cNvPr id="16" name="Text 8"/>
          <p:cNvSpPr/>
          <p:nvPr/>
        </p:nvSpPr>
        <p:spPr>
          <a:xfrm>
            <a:off x="661475" y="547022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debt-simplification functionality helps determine who owes whom and reduces unnecessary transactions.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0914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Thank You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583259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 appreciate your time and interest in the Smart Campus Companion. Let's collaborate to create a more integrated and efficient university environment for your students and faculty.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471565"/>
            <a:ext cx="10868745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Next Steps: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61475" y="4109442"/>
            <a:ext cx="10868745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Visit our website: </a:t>
            </a:r>
            <a:r>
              <a:rPr lang="en-US" sz="1450" b="1" u="sng" dirty="0">
                <a:solidFill>
                  <a:srgbClr val="408C80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smartcampus.com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Email us: </a:t>
            </a:r>
            <a:r>
              <a:rPr lang="en-US" sz="1450" b="1" u="sng" dirty="0">
                <a:solidFill>
                  <a:srgbClr val="408C80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info@smartcampus.com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Schedule a personalized demo to see it in action.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408C80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636</Words>
  <Application>Microsoft Office PowerPoint</Application>
  <PresentationFormat>Widescreen</PresentationFormat>
  <Paragraphs>145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Kanit Light</vt:lpstr>
      <vt:lpstr>Martel Sans</vt:lpstr>
      <vt:lpstr>Martel Sans Bold</vt:lpstr>
      <vt:lpstr>Kanit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het mehta</cp:lastModifiedBy>
  <cp:revision>2</cp:revision>
  <dcterms:created xsi:type="dcterms:W3CDTF">2026-09-13T03:35:27Z</dcterms:created>
  <dcterms:modified xsi:type="dcterms:W3CDTF">2026-09-13T03:41:41Z</dcterms:modified>
</cp:coreProperties>
</file>